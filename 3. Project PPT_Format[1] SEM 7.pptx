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21"/>
  </p:notesMasterIdLst>
  <p:handoutMasterIdLst>
    <p:handoutMasterId r:id="rId22"/>
  </p:handoutMasterIdLst>
  <p:sldIdLst>
    <p:sldId id="277" r:id="rId4"/>
    <p:sldId id="399" r:id="rId5"/>
    <p:sldId id="400" r:id="rId6"/>
    <p:sldId id="408" r:id="rId7"/>
    <p:sldId id="401" r:id="rId8"/>
    <p:sldId id="409" r:id="rId9"/>
    <p:sldId id="402" r:id="rId10"/>
    <p:sldId id="410" r:id="rId11"/>
    <p:sldId id="403" r:id="rId12"/>
    <p:sldId id="411" r:id="rId13"/>
    <p:sldId id="412" r:id="rId14"/>
    <p:sldId id="404" r:id="rId15"/>
    <p:sldId id="413" r:id="rId16"/>
    <p:sldId id="405" r:id="rId17"/>
    <p:sldId id="414" r:id="rId18"/>
    <p:sldId id="406" r:id="rId19"/>
    <p:sldId id="40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2B8B9F-BC4C-437F-BC70-E5EE004B12BA}" v="6" dt="2025-11-17T16:38:53.3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79" d="100"/>
          <a:sy n="79" d="100"/>
        </p:scale>
        <p:origin x="99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hat gupta" userId="a7fe05436fd72a04" providerId="LiveId" clId="{FBBD050D-A3A7-4FC2-BE4D-4A7621947F76}"/>
    <pc:docChg chg="undo custSel addSld modSld">
      <pc:chgData name="chahat gupta" userId="a7fe05436fd72a04" providerId="LiveId" clId="{FBBD050D-A3A7-4FC2-BE4D-4A7621947F76}" dt="2025-11-17T16:39:04.565" v="37" actId="14100"/>
      <pc:docMkLst>
        <pc:docMk/>
      </pc:docMkLst>
      <pc:sldChg chg="modSp mod">
        <pc:chgData name="chahat gupta" userId="a7fe05436fd72a04" providerId="LiveId" clId="{FBBD050D-A3A7-4FC2-BE4D-4A7621947F76}" dt="2025-11-17T16:33:37.941" v="10" actId="6549"/>
        <pc:sldMkLst>
          <pc:docMk/>
          <pc:sldMk cId="456502190" sldId="277"/>
        </pc:sldMkLst>
        <pc:spChg chg="mod">
          <ac:chgData name="chahat gupta" userId="a7fe05436fd72a04" providerId="LiveId" clId="{FBBD050D-A3A7-4FC2-BE4D-4A7621947F76}" dt="2025-11-17T16:33:37.941" v="10" actId="6549"/>
          <ac:spMkLst>
            <pc:docMk/>
            <pc:sldMk cId="456502190" sldId="277"/>
            <ac:spMk id="5" creationId="{00000000-0000-0000-0000-000000000000}"/>
          </ac:spMkLst>
        </pc:spChg>
      </pc:sldChg>
      <pc:sldChg chg="addSp modSp mod">
        <pc:chgData name="chahat gupta" userId="a7fe05436fd72a04" providerId="LiveId" clId="{FBBD050D-A3A7-4FC2-BE4D-4A7621947F76}" dt="2025-11-17T16:36:31.494" v="25" actId="1076"/>
        <pc:sldMkLst>
          <pc:docMk/>
          <pc:sldMk cId="974726245" sldId="411"/>
        </pc:sldMkLst>
        <pc:spChg chg="mod">
          <ac:chgData name="chahat gupta" userId="a7fe05436fd72a04" providerId="LiveId" clId="{FBBD050D-A3A7-4FC2-BE4D-4A7621947F76}" dt="2025-11-17T16:36:27.499" v="24" actId="1076"/>
          <ac:spMkLst>
            <pc:docMk/>
            <pc:sldMk cId="974726245" sldId="411"/>
            <ac:spMk id="2" creationId="{FE791A14-5CAA-3259-8A0B-8EC417982676}"/>
          </ac:spMkLst>
        </pc:spChg>
        <pc:picChg chg="add mod">
          <ac:chgData name="chahat gupta" userId="a7fe05436fd72a04" providerId="LiveId" clId="{FBBD050D-A3A7-4FC2-BE4D-4A7621947F76}" dt="2025-11-17T16:36:31.494" v="25" actId="1076"/>
          <ac:picMkLst>
            <pc:docMk/>
            <pc:sldMk cId="974726245" sldId="411"/>
            <ac:picMk id="5" creationId="{2098CA3F-05FD-671F-F1A6-204F508A44DE}"/>
          </ac:picMkLst>
        </pc:picChg>
      </pc:sldChg>
      <pc:sldChg chg="addSp modSp new mod">
        <pc:chgData name="chahat gupta" userId="a7fe05436fd72a04" providerId="LiveId" clId="{FBBD050D-A3A7-4FC2-BE4D-4A7621947F76}" dt="2025-11-17T16:35:27.291" v="19" actId="1076"/>
        <pc:sldMkLst>
          <pc:docMk/>
          <pc:sldMk cId="2762042223" sldId="413"/>
        </pc:sldMkLst>
        <pc:spChg chg="add mod">
          <ac:chgData name="chahat gupta" userId="a7fe05436fd72a04" providerId="LiveId" clId="{FBBD050D-A3A7-4FC2-BE4D-4A7621947F76}" dt="2025-11-17T16:34:45.101" v="14" actId="255"/>
          <ac:spMkLst>
            <pc:docMk/>
            <pc:sldMk cId="2762042223" sldId="413"/>
            <ac:spMk id="4" creationId="{870E7638-72D8-265A-121E-CF1931056787}"/>
          </ac:spMkLst>
        </pc:spChg>
        <pc:picChg chg="add mod">
          <ac:chgData name="chahat gupta" userId="a7fe05436fd72a04" providerId="LiveId" clId="{FBBD050D-A3A7-4FC2-BE4D-4A7621947F76}" dt="2025-11-17T16:35:27.291" v="19" actId="1076"/>
          <ac:picMkLst>
            <pc:docMk/>
            <pc:sldMk cId="2762042223" sldId="413"/>
            <ac:picMk id="6" creationId="{FD6F5FE9-4947-58B1-F47B-33E6C6E7C38D}"/>
          </ac:picMkLst>
        </pc:picChg>
      </pc:sldChg>
      <pc:sldChg chg="addSp modSp new mod">
        <pc:chgData name="chahat gupta" userId="a7fe05436fd72a04" providerId="LiveId" clId="{FBBD050D-A3A7-4FC2-BE4D-4A7621947F76}" dt="2025-11-17T16:39:04.565" v="37" actId="14100"/>
        <pc:sldMkLst>
          <pc:docMk/>
          <pc:sldMk cId="2439563452" sldId="414"/>
        </pc:sldMkLst>
        <pc:spChg chg="add mod">
          <ac:chgData name="chahat gupta" userId="a7fe05436fd72a04" providerId="LiveId" clId="{FBBD050D-A3A7-4FC2-BE4D-4A7621947F76}" dt="2025-11-17T16:38:29.071" v="31" actId="255"/>
          <ac:spMkLst>
            <pc:docMk/>
            <pc:sldMk cId="2439563452" sldId="414"/>
            <ac:spMk id="4" creationId="{B76A1997-45BD-13FC-FC88-050B0A485490}"/>
          </ac:spMkLst>
        </pc:spChg>
        <pc:picChg chg="add mod">
          <ac:chgData name="chahat gupta" userId="a7fe05436fd72a04" providerId="LiveId" clId="{FBBD050D-A3A7-4FC2-BE4D-4A7621947F76}" dt="2025-11-17T16:39:04.565" v="37" actId="14100"/>
          <ac:picMkLst>
            <pc:docMk/>
            <pc:sldMk cId="2439563452" sldId="414"/>
            <ac:picMk id="6" creationId="{B3FB6993-75EF-8075-097C-4CFF5FAEEF4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NAME_OF_SPECIALIZED_BRANCH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943584" y="136526"/>
            <a:ext cx="1004867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/>
              <a:t>Optimized Artificial Intelligence Techniques for Enhanced Color Image Retrieval </a:t>
            </a:r>
            <a:endParaRPr lang="en-US" sz="3600" b="1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45038" y="4412440"/>
            <a:ext cx="34792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Somya Khandelwal-22BAI71222</a:t>
            </a:r>
          </a:p>
          <a:p>
            <a:r>
              <a:rPr lang="en-US" sz="2000" dirty="0"/>
              <a:t>Gargi Khandelwal-22BAI71214</a:t>
            </a:r>
          </a:p>
          <a:p>
            <a:r>
              <a:rPr lang="en-US" sz="2000" dirty="0"/>
              <a:t>Chahat Gupta-22BAI71219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Prof. Sant Kumar Mourya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pPr algn="just"/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pPr algn="just"/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pPr algn="just"/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pPr algn="just"/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pPr algn="just"/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pPr algn="just"/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pPr algn="just"/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rise of digital images has created an urgent demand for smarter retrieval systems.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search is outdated since it depends on manual tagging, which is slow, inconsistent, and subjective.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search is outdated since it depends on manual tagging, which is slow, inconsistent, and subjective.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CBIR methods struggle with large feature dimensions, redundant data, and weak similarity measures.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optimized AI-driven system is required to improve both accuracy and efficiency.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2DCF-C64D-CF81-6A9D-94821640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1A60-2C33-2F12-9E02-3435BF656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combined or hybrid feature approach creates a richer image description but also introduces excessive and unnecessary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this, metaheuristic optimization methods such as Genetic Algorithm, Firefly Algorithm, and Swarm Intelligence are applied.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help identify the most important features, cut down data size, and improve retrieval accuracy.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system that delivers higher precision, quicker search results, and better scalability.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similar images in massive databases is complex because multiple visual aspects must be considered.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DF52B-A3FC-1156-E38D-EC30E927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2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retrieval means finding the closest visual matches to a query image from a massive database.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grows because images are described by many features (color, texture, shape), which together create large, high-dimensional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all these features directly is inefficient, as it slows the process and brings in redundancy.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features are irrelevant or even harmful, adding noise instead of improving accuracy, so smart selection is necessary.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696B-5FBD-883F-3ED3-444AD973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03CCA-2849-F669-AB04-5E01513CD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827"/>
            <a:ext cx="10515600" cy="502717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feature selection methods often fail, which is why advanced optimization techniques like Genetic Algorithm, Firefly Algorithm, and Swarm Intelligence are needed.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algorithms can explore the search space globally and adaptively pick the best subset of features for retrieval.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real-world use, the system must handle millions of images while staying reliable against variations like lighting, scale, noise, and orientation.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frames this as a multi-objective problem: reducing dimensionality, improving accuracy (precision/recall), and lowering computational costs.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aim is to design an AI-powered hybrid feature optimization framework that pushes CBIR systems toward higher accuracy, speed, and scalability.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05BD2-B621-F7AB-0C77-5E2D016F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centers on building an AI-powered framework that improves color image retrieval through optimized hybrid features.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combined representation of color, texture, and shape will be developed to capture images more fully and avoid missing relevant matches.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optimization techniques (GA, FA, SI) will be explored to filter out redundant data, keep only the most useful features, and speed up retrieval.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on well-known benchmark datasets will be carried out to compare different optimization strategies and assess their accuracy, efficiency, and scalability.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4B8E-BA64-4B66-E919-B8620EDD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0F8D-978E-5C9A-C6B5-202FDD038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specialized indexing and similarity mechanism will be designed to enable fast search and low latency in large-scale databases.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be made robust enough to handle variations such as changes in lighting, orientation, size, and noise, ensuring real-world adaptability.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will serve both academic and industrial needs by showing how optimization-driven CBIR can provide a better balance between accuracy and efficiency than conventional or deep learning-only approaches.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aims to deliver a practical, scalable, and industry-ready CBIR solution that advances visual search technology.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C19C3-D56A-01F5-5852-5E2C9ADA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2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as a step-by-step pipeline to ensure fast and accurate image retrieval.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from standard datasets are resized, normalized, and denoised to create a consistent and clean input.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Color, texture, and shape details are captured and combined into a single hybrid descriptor for complete image representation.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algorithms like Genetic Algorithm, Firefly Algorithm, and Particle Swarm Optimization are applied to pick the most relevant features and remove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1A14-5CAA-3259-8A0B-8EC41798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D3F66-83F1-3CD1-15D6-05E0631A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5EBE5F-ADAF-FB0B-F927-92EB9FD04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8"/>
          <a:stretch>
            <a:fillRect/>
          </a:stretch>
        </p:blipFill>
        <p:spPr>
          <a:xfrm>
            <a:off x="2918298" y="1772538"/>
            <a:ext cx="5623530" cy="4356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98CA3F-05FD-671F-F1A6-204F508A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85" y="1424836"/>
            <a:ext cx="5009743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2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A8CC-B427-1034-F249-A14EB67F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BB5E6-1E89-59D9-37A3-A4C8E4F6C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features are indexed, and similarity between images is calculated using metrics like Euclidean, Cosine, or Chi-square distances to retrieve the closest matches.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assessed using accuracy metrics such as Precision, Recall, F1-score, Mean Average Precision, and retrieval time; different optimization methods are compared for effectiveness.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implemented in Python and MATLAB and validated on multiple datasets to ensure it works efficiently in real-world scenarios.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CC666-0A4D-1269-DA62-C988065C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60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an AI-driven CBIR framework that integrates color, texture, and shape features into a hybrid representation.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 metaheuristic optimization algorithms (Genetic Algorithm, Firefly Algorithm, Swarm Intelligence) for effective feature selection and dimensionality reduction.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redundant and irrelevant features, resulting in higher retrieval accuracy, lower computational cost, and better scalability for large datasets.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 multiple complementary descriptors rather than relying on a single feature or simple matching, improving robustness against illumination, scaling, and noise.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 efficient performance in real-time applications while maintaining system reliability.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through experiments on benchmark datasets like Corel-1000, Caltech-256, and ImageNet subsets to demonstrate superiority over conventional CBIR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D69AD2-D36A-B367-A432-823B3A64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E7638-72D8-265A-121E-CF1931056787}"/>
              </a:ext>
            </a:extLst>
          </p:cNvPr>
          <p:cNvSpPr txBox="1"/>
          <p:nvPr/>
        </p:nvSpPr>
        <p:spPr>
          <a:xfrm>
            <a:off x="994653" y="540044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6F5FE9-4947-58B1-F47B-33E6C6E7C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102" y="1624555"/>
            <a:ext cx="9341796" cy="426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4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AI-powered CBIR framework that combines color, texture, and shape features for comprehensive image representation.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redundant data to improve retrieval accuracy, processing speed, and scalability for large datasets.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robustness against changes in lighting, scale, and noise, outperforming traditional single-feature CBIR approaches.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on benchmark datasets (Corel-1000, Caltech-256, ImageNet subsets) to validate superior performance.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applications include:</a:t>
            </a:r>
          </a:p>
          <a:p>
            <a:pPr lvl="1"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retrieving similar X-rays or MRIs for diagnostics</a:t>
            </a:r>
          </a:p>
          <a:p>
            <a:pPr lvl="1"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matching query images with crime databases</a:t>
            </a:r>
          </a:p>
          <a:p>
            <a:pPr lvl="1"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product search</a:t>
            </a:r>
          </a:p>
          <a:p>
            <a:pPr lvl="1"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libraries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fast multimedia retrieval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544D0-80DC-E708-092C-73D270B1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A1997-45BD-13FC-FC88-050B0A485490}"/>
              </a:ext>
            </a:extLst>
          </p:cNvPr>
          <p:cNvSpPr txBox="1"/>
          <p:nvPr/>
        </p:nvSpPr>
        <p:spPr>
          <a:xfrm>
            <a:off x="856033" y="447472"/>
            <a:ext cx="6320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FB6993-75EF-8075-097C-4CFF5FAE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29" y="1629237"/>
            <a:ext cx="5904675" cy="421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6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Incorporate CNN embeddings or transformer-based vision models (e.g., Vision Transformers) into the hybrid feature vector to enhance semantic understanding.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Optimization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dynamic hybrid strategies that combine GA, FA, and SI adaptively to outperform single-algorithm approaches.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Cross-Domain Retrieval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Extend the system to support cross-modal retrieval, such as retrieving images from text queries or multimodal inputs.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Optimize indexing methods (e.g., Approximate Nearest Neighbor Search) for fast, large-scale retrieval in commercial environments.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Retrieval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federated learning or secure indexing techniques to protect sensitive datasets while enabling safe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Swain, M. J., &amp; Ballard, D. H. (1991). “Color Indexing.” International Journal of Computer Vision (IJCV), 7(1), 11–32.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Manjunath, B. S., &amp; Ma, W. Y. (1996). “Texture Features for Browsing and Retrieval of Image Data.” IEEE Transactions on Pattern Analysis and Machine Intelligence (TPAMI), 18(8), 837 842.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Rui, Y., Huang, T. S., &amp; Chang, S. F. (1999). “Image Retrieval: Current Techniques, Promising Directions and Open Issues.” Journal of Visual Communication and Image Representation, 10(1), 39–62.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4.Datta, R., Li, J., &amp; Wang, J. Z. (2005). “Content-Based Image Retrieval: Approaches and Trends of the New Age.” ACM Computing Surveys (CSUR), 40(2), 1–60.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5.Lowe, D. G. (2004). “Distinctive Image Features from Scale-Invariant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International Journal of Computer Vision (IJCV), 60(2), 91–110.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6.Smeulders, A. W. M., Worring, M., Santini, S., Gupta, A., &amp; Jain, R. (2000). “Content-Based Image Retrieval at the End of the Early Years.” IEEE Transactions on Pattern Analysis and Machine Intelligence (TPAMI), 22(12), 1349–1380.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6192</TotalTime>
  <Words>1457</Words>
  <Application>Microsoft Office PowerPoint</Application>
  <PresentationFormat>Widescreen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</vt:lpstr>
      <vt:lpstr>INTRODUCTION</vt:lpstr>
      <vt:lpstr>PROBLEM FORMULATION</vt:lpstr>
      <vt:lpstr>PROBLEM FORMULATION</vt:lpstr>
      <vt:lpstr>OBJECTIVES</vt:lpstr>
      <vt:lpstr>OBJECTIVES</vt:lpstr>
      <vt:lpstr>METHODLOGY USED</vt:lpstr>
      <vt:lpstr>FLOWCHART OF METHODOLOGY</vt:lpstr>
      <vt:lpstr>METHODOLOGY USED</vt:lpstr>
      <vt:lpstr>RESULTS</vt:lpstr>
      <vt:lpstr>PowerPoint Presentation</vt:lpstr>
      <vt:lpstr>CONCLUSION</vt:lpstr>
      <vt:lpstr>PowerPoint Presentation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chahat gupta</cp:lastModifiedBy>
  <cp:revision>493</cp:revision>
  <dcterms:created xsi:type="dcterms:W3CDTF">2019-01-09T10:33:58Z</dcterms:created>
  <dcterms:modified xsi:type="dcterms:W3CDTF">2025-11-17T16:39:11Z</dcterms:modified>
</cp:coreProperties>
</file>